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kIlyIovtIAiSt+yDOILbT2idy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translating the project into familiar statistical language. Set up the class to listen for study design, evaluation metrics, and interpretation rather than software detail.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Slow down here and make the audience comfortable: the novelty is image data, but the logic is still a standard supervised classification comparison.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Emphasize that the four classes are balanced, so accuracy is more interpretable than it would be under severe class imbalance. Also explain why train/validation/test separation is central.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familiar language: automatic basis expansion, hierarchical feature construction, and estimated class probabilities. Avoid too much architecture detail.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a7385608_0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aa7385608_0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aa7385608_0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Translate freeze and unfreeze as restricted versus flexible fitting. Stress that transfer learning is especially appealing when data are limited and class separation is difficult.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Frame metrics as answers to different questions: overall success, class-specific sensitivity, balance of precision and recall, and separability.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training versus validation again while reading the figure. The audience should see the baseline as reasonable but clearly improvable.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Make the comparison explicit: both training and validation results move upward, and the validation gap does not suggest a collapse in generalization.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 clearly that the advanced model helps most where the problem is actually difficult. That is a stronger conclusion than simply saying accuracy increased.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slide to say that the advanced model improves separation for the overlapping classes. Mention that the easy classes were already strong and stayed strong.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your conclusion slide. Keep it balanced: the project finds a meaningful improvement, not a final medical solution.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Invite questions, but leave the audience with the strongest interpretation: improvement on the hard classes is the core result.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Weekly HW 03 writeup by Zhongyang Fan, adapted for statistics students.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Kaggle Brain Tumor MRI Dataset: masoudnickparvar/brain-tumor-mri-dataset.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Original project result figures reused from the prior 426 presentation.</a:t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Calibri"/>
              <a:buNone/>
              <a:defRPr sz="12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01 / 12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0550" y="876300"/>
            <a:ext cx="8267700" cy="4934100"/>
          </a:xfrm>
          <a:prstGeom prst="roundRect">
            <a:avLst>
              <a:gd fmla="val 1544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90550" y="876300"/>
            <a:ext cx="95250" cy="49339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14400" y="1238250"/>
            <a:ext cx="666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Methods For </a:t>
            </a:r>
            <a:r>
              <a:rPr b="1" lang="en-US" sz="25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Brain Tumor Classification from MRI Images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914400" y="2952750"/>
            <a:ext cx="666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5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We build 2 models to automatically classify brain tumor MRI images into 4 tumor categories and compare a Deep Learning model CNN as baseline with an advanced approach – EfficientNet.</a:t>
            </a:r>
            <a:endParaRPr sz="1900"/>
          </a:p>
        </p:txBody>
      </p:sp>
      <p:sp>
        <p:nvSpPr>
          <p:cNvPr id="29" name="Google Shape;29;p1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8967125" y="4513800"/>
            <a:ext cx="30003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Zhongyang Fan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George Wu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04/29/2026</a:t>
            </a:r>
            <a:endParaRPr/>
          </a:p>
        </p:txBody>
      </p:sp>
      <p:pic>
        <p:nvPicPr>
          <p:cNvPr id="31" name="Google Shape;3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7125" y="1238250"/>
            <a:ext cx="3000300" cy="20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02 / 12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1. Research Setting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90550" y="2228850"/>
            <a:ext cx="34290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90550" y="2228850"/>
            <a:ext cx="76200" cy="31623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00100" y="24003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19150" y="2781300"/>
            <a:ext cx="2971800" cy="2457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Each MRI image must be assigned to one of four categories: glioma, meningioma, pituitary tumor, or no tumor.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So the response variable is categorical with more than two levels.</a:t>
            </a:r>
            <a:r>
              <a:rPr lang="en-US"/>
              <a:t>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The final decision rule is a 4-class classifier.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286250" y="2228850"/>
            <a:ext cx="34290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286250" y="2228850"/>
            <a:ext cx="76200" cy="31623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495800" y="24003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89B4A"/>
                </a:solidFill>
                <a:latin typeface="Calibri"/>
                <a:ea typeface="Calibri"/>
                <a:cs typeface="Calibri"/>
                <a:sym typeface="Calibri"/>
              </a:rPr>
              <a:t>Predictors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14850" y="2781300"/>
            <a:ext cx="2971800" cy="2457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The inputs are raw MRI images rather than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numerical or text input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New models can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learn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useful image features automatically.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981950" y="2228850"/>
            <a:ext cx="36195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981950" y="2228850"/>
            <a:ext cx="76200" cy="31623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191500" y="240030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96F5C"/>
                </a:solidFill>
                <a:latin typeface="Calibri"/>
                <a:ea typeface="Calibri"/>
                <a:cs typeface="Calibri"/>
                <a:sym typeface="Calibri"/>
              </a:rPr>
              <a:t>Research goal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210550" y="2781300"/>
            <a:ext cx="3162300" cy="2457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Compare a simple baseline CNN with a stronger transfer-learning model.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Ask not only which model has higher overall accuracy, but also which one behaves better on the difficult classes.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This matters because one class can fail even when average accuracy looks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03 / 12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2. Data, split, and class balance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28650" y="1485900"/>
            <a:ext cx="7810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The design is clean enough for a fair baseline-vs-advanced comparison.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90550" y="2190750"/>
            <a:ext cx="2095500" cy="1409700"/>
          </a:xfrm>
          <a:prstGeom prst="roundRect">
            <a:avLst>
              <a:gd fmla="val 5405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0550" y="2190750"/>
            <a:ext cx="2095500" cy="762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81050" y="24003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7021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00100" y="2857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total MRI images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00100" y="3181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Public dataset used for the project.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876550" y="2190750"/>
            <a:ext cx="2095500" cy="1409700"/>
          </a:xfrm>
          <a:prstGeom prst="roundRect">
            <a:avLst>
              <a:gd fmla="val 5405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876550" y="2190750"/>
            <a:ext cx="2095500" cy="762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067050" y="24003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4,570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086100" y="2857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086100" y="3181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Used to fit model parameters.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162550" y="2190750"/>
            <a:ext cx="2095500" cy="1409700"/>
          </a:xfrm>
          <a:prstGeom prst="roundRect">
            <a:avLst>
              <a:gd fmla="val 5405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162550" y="2190750"/>
            <a:ext cx="2095500" cy="762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353050" y="24003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1,140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372100" y="2857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validation images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372100" y="3181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Used to monitor generalization during training.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448550" y="2190750"/>
            <a:ext cx="2095500" cy="1409700"/>
          </a:xfrm>
          <a:prstGeom prst="roundRect">
            <a:avLst>
              <a:gd fmla="val 5405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448550" y="2190750"/>
            <a:ext cx="2095500" cy="762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639050" y="24003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1,311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658100" y="2857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658100" y="3181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Held out for final evaluation.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90550" y="3943350"/>
            <a:ext cx="5143500" cy="2152650"/>
          </a:xfrm>
          <a:prstGeom prst="roundRect">
            <a:avLst>
              <a:gd fmla="val 354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19150" y="41719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Why the split matters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19150" y="4552950"/>
            <a:ext cx="44577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Training accuracy tells us how well a model learns the data it has already seen.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Validation and test performance tell us whether that learned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knowledge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generalizes to new scans.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That separation is especially important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because it allows us to know how the model works generally.</a:t>
            </a:r>
            <a:endParaRPr/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7900" y="4319421"/>
            <a:ext cx="5353050" cy="140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04 / 12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3. Baseline model: CNN good at image recognition and starting from 0 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90550" y="2330475"/>
            <a:ext cx="33909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90550" y="2330475"/>
            <a:ext cx="76200" cy="31623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00100" y="2501925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Step 1: simple patterns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19150" y="2882925"/>
            <a:ext cx="2933700" cy="245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always choose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small visual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features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such as edges, boundaries, and contrast changes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by hands.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But here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CNN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learned automatically from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simple features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rather than chosen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manually.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286250" y="2330475"/>
            <a:ext cx="33909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286250" y="2330475"/>
            <a:ext cx="76200" cy="31623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495800" y="2501925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89B4A"/>
                </a:solidFill>
                <a:latin typeface="Calibri"/>
                <a:ea typeface="Calibri"/>
                <a:cs typeface="Calibri"/>
                <a:sym typeface="Calibri"/>
              </a:rPr>
              <a:t>Step 2: combine features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514850" y="2882925"/>
            <a:ext cx="2933700" cy="245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Later layers combine simple patterns into more complex structures.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That helps the model separate tumor types that may look similar at first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time.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981950" y="2330475"/>
            <a:ext cx="3619500" cy="3162300"/>
          </a:xfrm>
          <a:prstGeom prst="roundRect">
            <a:avLst>
              <a:gd fmla="val 241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981950" y="2330475"/>
            <a:ext cx="76200" cy="31623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8191500" y="2501925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96F5C"/>
                </a:solidFill>
                <a:latin typeface="Calibri"/>
                <a:ea typeface="Calibri"/>
                <a:cs typeface="Calibri"/>
                <a:sym typeface="Calibri"/>
              </a:rPr>
              <a:t>Final rule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210550" y="2882925"/>
            <a:ext cx="3162300" cy="245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After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these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layers, the model ends with a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probability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output over four classes.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That is 4 class, A, B, C, and D. P(A) = 0.1, P(B) = 0.1, P(C) = 0.1, P(D) = 0.7, we would say this tumor belongs to D class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This baseline gives us a performance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standard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for the comparison. 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686975" y="1373925"/>
            <a:ext cx="10479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Idea: CNN uses many training images and their labels to gradually adjust the values inside its filters.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Through this process, the filters become better at detecting image patterns that are useful for classification.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daa738560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75" y="1223600"/>
            <a:ext cx="81724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05 / 12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4. Advanced model: EfficientNetB05 starting at </a:t>
            </a: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knowledgeable basic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90550" y="3024850"/>
            <a:ext cx="3429000" cy="3067200"/>
          </a:xfrm>
          <a:prstGeom prst="roundRect">
            <a:avLst>
              <a:gd fmla="val 2484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90550" y="3024850"/>
            <a:ext cx="76200" cy="30672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00100" y="31963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Why it may help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19150" y="3577300"/>
            <a:ext cx="2971800" cy="2362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 pretrained model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(has been trained on large dataset)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already has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informations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like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edges, shapes, and contrast patterns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So it does not have to learn every low-level feature from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286250" y="3024850"/>
            <a:ext cx="3429000" cy="3067200"/>
          </a:xfrm>
          <a:prstGeom prst="roundRect">
            <a:avLst>
              <a:gd fmla="val 2484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286250" y="3024850"/>
            <a:ext cx="76200" cy="30672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495800" y="31963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89B4A"/>
                </a:solidFill>
                <a:latin typeface="Calibri"/>
                <a:ea typeface="Calibri"/>
                <a:cs typeface="Calibri"/>
                <a:sym typeface="Calibri"/>
              </a:rPr>
              <a:t>Two-stage fitting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514850" y="3577300"/>
            <a:ext cx="2971800" cy="2362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Stage 1: freeze most pretrained layers and train only the final classification part.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Stage 2: unfreeze more layers and continue training at a smaller learning rate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This moves from a more restricted fit to a more flexible fit.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981950" y="3024850"/>
            <a:ext cx="3619500" cy="3067200"/>
          </a:xfrm>
          <a:prstGeom prst="roundRect">
            <a:avLst>
              <a:gd fmla="val 2484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981950" y="3024850"/>
            <a:ext cx="76200" cy="30672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191500" y="319630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96F5C"/>
                </a:solidFill>
                <a:latin typeface="Calibri"/>
                <a:ea typeface="Calibri"/>
                <a:cs typeface="Calibri"/>
                <a:sym typeface="Calibri"/>
              </a:rPr>
              <a:t>Working hypothesis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210550" y="3577300"/>
            <a:ext cx="3162300" cy="2362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If transfer learning is useful, we should see higher overall performance.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More importantly, we should see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better performance than baseline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 on the visually confusing classes.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  <p:pic>
        <p:nvPicPr>
          <p:cNvPr id="141" name="Google Shape;14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99" y="1244425"/>
            <a:ext cx="1311950" cy="160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5"/>
          <p:cNvCxnSpPr/>
          <p:nvPr/>
        </p:nvCxnSpPr>
        <p:spPr>
          <a:xfrm>
            <a:off x="2364000" y="2045813"/>
            <a:ext cx="156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3" name="Google Shape;14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3648" y="1244437"/>
            <a:ext cx="2019803" cy="160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5051" y="1209375"/>
            <a:ext cx="1372676" cy="1754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5"/>
          <p:cNvCxnSpPr/>
          <p:nvPr/>
        </p:nvCxnSpPr>
        <p:spPr>
          <a:xfrm>
            <a:off x="7010775" y="2058488"/>
            <a:ext cx="156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5"/>
          <p:cNvSpPr txBox="1"/>
          <p:nvPr/>
        </p:nvSpPr>
        <p:spPr>
          <a:xfrm>
            <a:off x="2247200" y="2645100"/>
            <a:ext cx="8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6788150" y="2673750"/>
            <a:ext cx="978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0700350" y="2673750"/>
            <a:ext cx="1372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to be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06 / 12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5. Preprocessing and evaluation plan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90550" y="2247900"/>
            <a:ext cx="3390900" cy="2990850"/>
          </a:xfrm>
          <a:prstGeom prst="roundRect">
            <a:avLst>
              <a:gd fmla="val 2548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90550" y="2247900"/>
            <a:ext cx="76200" cy="29908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00100" y="24193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Image preprocessing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19150" y="2800350"/>
            <a:ext cx="29337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All images are resized to 224 by 224 pixels.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Pixel values are normalized to the 0 to 1 range.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This gives the models a common input scale.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286250" y="2247900"/>
            <a:ext cx="3390900" cy="2990850"/>
          </a:xfrm>
          <a:prstGeom prst="roundRect">
            <a:avLst>
              <a:gd fmla="val 2548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286250" y="2247900"/>
            <a:ext cx="76200" cy="299085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495800" y="24193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89B4A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514850" y="2800350"/>
            <a:ext cx="29337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Rotations, shifts, zoom, brightness changes, and horizontal flips increase variation in the training set.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The goal is to reduce overfitting and improve generalization.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981950" y="2247900"/>
            <a:ext cx="3619500" cy="2990850"/>
          </a:xfrm>
          <a:prstGeom prst="roundRect">
            <a:avLst>
              <a:gd fmla="val 2548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981950" y="2247900"/>
            <a:ext cx="76200" cy="299085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191500" y="24193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96F5C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210550" y="2800350"/>
            <a:ext cx="31623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Accuracy summarizes the overall proportion correct.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Precision, recall, and F1-score let us inspect each class separately.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ROC-AUC tells us how well a class is separated from the others across thresholds.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07 / 12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6. Baseline CNN: what do the learning curves say?</a:t>
            </a:r>
            <a:endParaRPr/>
          </a:p>
        </p:txBody>
      </p:sp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2513769"/>
            <a:ext cx="7372350" cy="293536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8229600" y="2095500"/>
            <a:ext cx="3371850" cy="3771900"/>
          </a:xfrm>
          <a:prstGeom prst="roundRect">
            <a:avLst>
              <a:gd fmla="val 226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458200" y="2343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Reading the curves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458200" y="2724150"/>
            <a:ext cx="2743200" cy="236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Training accuracy climbs to roughly 0.72.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Validation accuracy ends around 0.76.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Loss falls overall, so the model is learning.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But the fit still leaves substantial classification error.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08 / 12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7. Transfer learning model: stronger fit and better generalization</a:t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2511009"/>
            <a:ext cx="7372350" cy="294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8229600" y="2095500"/>
            <a:ext cx="3371850" cy="3771900"/>
          </a:xfrm>
          <a:prstGeom prst="roundRect">
            <a:avLst>
              <a:gd fmla="val 226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8458200" y="2343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Main change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458200" y="2724150"/>
            <a:ext cx="2743200" cy="2727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Training accuracy reaches about 0.80.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Validation accuracy rises to about 0.89.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The convergence pattern is smoother overall.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This supports the idea that the pretrained start is useful.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09 / 12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8. Class-wise results: where does the improvement happen?</a:t>
            </a:r>
            <a:endParaRPr/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9979" y="2152650"/>
            <a:ext cx="3928441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3172" y="2152650"/>
            <a:ext cx="474925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590550" y="1943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Baseline report</a:t>
            </a:r>
            <a:endParaRPr sz="1700"/>
          </a:p>
        </p:txBody>
      </p:sp>
      <p:sp>
        <p:nvSpPr>
          <p:cNvPr id="213" name="Google Shape;213;p9"/>
          <p:cNvSpPr/>
          <p:nvPr/>
        </p:nvSpPr>
        <p:spPr>
          <a:xfrm>
            <a:off x="6534150" y="1943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Transfer-learning report</a:t>
            </a:r>
            <a:endParaRPr sz="1700"/>
          </a:p>
        </p:txBody>
      </p:sp>
      <p:sp>
        <p:nvSpPr>
          <p:cNvPr id="214" name="Google Shape;214;p9"/>
          <p:cNvSpPr/>
          <p:nvPr/>
        </p:nvSpPr>
        <p:spPr>
          <a:xfrm>
            <a:off x="590550" y="4324350"/>
            <a:ext cx="3390900" cy="1428750"/>
          </a:xfrm>
          <a:prstGeom prst="roundRect">
            <a:avLst>
              <a:gd fmla="val 5333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90550" y="4324350"/>
            <a:ext cx="3390900" cy="762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81050" y="45339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0.40 → 0.73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800100" y="49911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Meningioma recall</a:t>
            </a:r>
            <a:endParaRPr b="1"/>
          </a:p>
        </p:txBody>
      </p:sp>
      <p:sp>
        <p:nvSpPr>
          <p:cNvPr id="218" name="Google Shape;218;p9"/>
          <p:cNvSpPr/>
          <p:nvPr/>
        </p:nvSpPr>
        <p:spPr>
          <a:xfrm>
            <a:off x="800100" y="531495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A large gain on one of the hardest tumor classes.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400550" y="4324350"/>
            <a:ext cx="3390900" cy="1428750"/>
          </a:xfrm>
          <a:prstGeom prst="roundRect">
            <a:avLst>
              <a:gd fmla="val 5333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400550" y="4324350"/>
            <a:ext cx="3390900" cy="762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591050" y="45339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0.52 → 0.75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610100" y="49911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Glioma recall</a:t>
            </a:r>
            <a:endParaRPr b="1"/>
          </a:p>
        </p:txBody>
      </p:sp>
      <p:sp>
        <p:nvSpPr>
          <p:cNvPr id="223" name="Google Shape;223;p9"/>
          <p:cNvSpPr/>
          <p:nvPr/>
        </p:nvSpPr>
        <p:spPr>
          <a:xfrm>
            <a:off x="4610100" y="531495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Another major gain where misclassification mattered most.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8210550" y="4324350"/>
            <a:ext cx="3390900" cy="1428750"/>
          </a:xfrm>
          <a:prstGeom prst="roundRect">
            <a:avLst>
              <a:gd fmla="val 5333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8210550" y="4324350"/>
            <a:ext cx="3390900" cy="762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401050" y="45339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0.70 → 0.85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8420100" y="4991100"/>
            <a:ext cx="29718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b="1"/>
          </a:p>
        </p:txBody>
      </p:sp>
      <p:sp>
        <p:nvSpPr>
          <p:cNvPr id="228" name="Google Shape;228;p9"/>
          <p:cNvSpPr/>
          <p:nvPr/>
        </p:nvSpPr>
        <p:spPr>
          <a:xfrm>
            <a:off x="8420100" y="531495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Average performance improves too, but the class-wise gains tell the richer story.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1141050" y="1210925"/>
            <a:ext cx="65787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Recall measures how many </a:t>
            </a:r>
            <a:r>
              <a:rPr lang="en-US" u="sng"/>
              <a:t>actual positive</a:t>
            </a:r>
            <a:r>
              <a:rPr lang="en-US"/>
              <a:t> cases the model</a:t>
            </a:r>
            <a:r>
              <a:rPr b="1" lang="en-US"/>
              <a:t> correctly finds</a:t>
            </a:r>
            <a:r>
              <a:rPr lang="en-US"/>
              <a:t>. Precision measures how many </a:t>
            </a:r>
            <a:r>
              <a:rPr lang="en-US" u="sng"/>
              <a:t>predicted positive cases</a:t>
            </a:r>
            <a:r>
              <a:rPr lang="en-US"/>
              <a:t> are </a:t>
            </a:r>
            <a:r>
              <a:rPr b="1" lang="en-US"/>
              <a:t>actually correct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9. ROC curves: the class-separation</a:t>
            </a:r>
            <a:endParaRPr/>
          </a:p>
        </p:txBody>
      </p:sp>
      <p:pic>
        <p:nvPicPr>
          <p:cNvPr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389" y="2076450"/>
            <a:ext cx="4806023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6008" y="2076450"/>
            <a:ext cx="4773083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590550" y="18669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Baseline ROC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362700" y="18669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Transfer-learning ROC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390650" y="6096000"/>
            <a:ext cx="914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Glioma AUC: about 0.82 to 0.93     Meningioma AUC: about 0.79 to 0.95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943125" y="1292425"/>
            <a:ext cx="68115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ROC-AUC curve shows how well the model </a:t>
            </a:r>
            <a:r>
              <a:rPr b="1" lang="en-US"/>
              <a:t>separates </a:t>
            </a:r>
            <a:r>
              <a:rPr lang="en-US"/>
              <a:t>different classes.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59055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10. Conclusion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90550" y="2247900"/>
            <a:ext cx="3390900" cy="3086100"/>
          </a:xfrm>
          <a:prstGeom prst="roundRect">
            <a:avLst>
              <a:gd fmla="val 2469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90550" y="2247900"/>
            <a:ext cx="76200" cy="30861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00100" y="24193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Main finding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19150" y="2800350"/>
            <a:ext cx="29337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Transfer learning outperforms the baseline CNN across every major evaluation measure in this study.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It 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increases </a:t>
            </a: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overall accuracy.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It also improves recall, F1-score, and ROC-AUC on the difficult classes.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286250" y="2247900"/>
            <a:ext cx="3390900" cy="3086100"/>
          </a:xfrm>
          <a:prstGeom prst="roundRect">
            <a:avLst>
              <a:gd fmla="val 2469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286250" y="2247900"/>
            <a:ext cx="76200" cy="3086100"/>
          </a:xfrm>
          <a:prstGeom prst="rect">
            <a:avLst/>
          </a:prstGeom>
          <a:solidFill>
            <a:srgbClr val="C89B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495800" y="241935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89B4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514850" y="2800350"/>
            <a:ext cx="29337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A good model should not only do well on average.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It should also behave more reliably on the cases where classification is hardest.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7981950" y="2247900"/>
            <a:ext cx="3619500" cy="3086100"/>
          </a:xfrm>
          <a:prstGeom prst="roundRect">
            <a:avLst>
              <a:gd fmla="val 2469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7981950" y="2247900"/>
            <a:ext cx="76200" cy="3086100"/>
          </a:xfrm>
          <a:prstGeom prst="rect">
            <a:avLst/>
          </a:prstGeom>
          <a:solidFill>
            <a:srgbClr val="C96F5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8191500" y="24193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C96F5C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8210550" y="2800350"/>
            <a:ext cx="31623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The model is still not perfect when tumor appearances overlap</a:t>
            </a:r>
            <a:r>
              <a:rPr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Low-contrast or noisy MRI scans remain difficult.</a:t>
            </a:r>
            <a:endParaRPr b="0"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• More data and additional model development would still be needed for stronger real-world use.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905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3626B"/>
                </a:solidFill>
                <a:latin typeface="Calibri"/>
                <a:ea typeface="Calibri"/>
                <a:cs typeface="Calibri"/>
                <a:sym typeface="Calibri"/>
              </a:rPr>
              <a:t>Brain tumor MRI classification: baseline CNN vs. transfer learning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0E5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2" type="sldNum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757575"/>
              </a:solidFill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495300" y="323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Stats 426 Final Presentation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10839450" y="323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D7C5A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1047750" y="1123950"/>
            <a:ext cx="10096500" cy="4095750"/>
          </a:xfrm>
          <a:prstGeom prst="roundRect">
            <a:avLst>
              <a:gd fmla="val 1860" name="adj"/>
            </a:avLst>
          </a:prstGeom>
          <a:solidFill>
            <a:srgbClr val="FFFDFC"/>
          </a:solidFill>
          <a:ln cap="flat" cmpd="sng" w="9525">
            <a:solidFill>
              <a:srgbClr val="D7D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1047750" y="1123950"/>
            <a:ext cx="114300" cy="4095750"/>
          </a:xfrm>
          <a:prstGeom prst="rect">
            <a:avLst/>
          </a:prstGeom>
          <a:solidFill>
            <a:srgbClr val="2D7C5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4667250" y="2848800"/>
            <a:ext cx="2857500" cy="1160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55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12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1" sz="2550">
              <a:solidFill>
                <a:srgbClr val="1721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916225" y="4459450"/>
            <a:ext cx="3429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E-mail: zhongyangfan@g.ucla.edu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